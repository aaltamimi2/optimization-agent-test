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3A49-8F2E-7BB6-9C66-0E42FE0CA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6A2F1-2A93-2ACB-389D-76191BB37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BC10E-7AA2-FBA1-4FFD-B6B88896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8204-4732-3F18-9CE1-A8957FF1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64557-C116-0F94-550A-3A5A941D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2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910D-6327-3248-879F-4485CA9B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C774F-E3E3-32A5-B364-2E935FE92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89D41-FBCE-0BE8-FF30-D2D11942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36C65-8DA5-87CC-D090-3917C2EB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00D2A-2EDF-E98D-C6AB-10F8A2A0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0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4A9D-F10D-6BB8-BC6F-9A0C7792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9D538-0368-5D1B-DAB2-7827CE67C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3FAF6-C14A-4C0C-1174-EFD813779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A80E4-AE46-34D0-8D14-7C539810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39F7F-3111-A40E-987E-9F1F24A7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6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C664-A3D8-F774-7956-B6B4FB88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1AA3C-84A8-D073-9A2D-98B6DF926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23364-F0CD-8235-ECD3-34D1D85A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5780C-98D8-ED10-AB87-47F36A26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4B98F-CCD0-BEFB-8E9C-0734EEE4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3B745-CAF9-1EE0-3D56-F74C0128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0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69E1-E040-B055-076F-525798DC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21031-C9BA-380B-EEA8-F35844D8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3CDCD-C110-3D8D-E761-BCE1500D5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7AEBD-1A36-1C2A-4AC0-906F83FA6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C2708-F6C9-3112-0FD7-1C0E35B1A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5DC3B-8C8C-FECF-1B32-E245501C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54B65-EA03-58A8-6FFB-5997DD10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4DC31-83EA-9CFA-7140-F89402B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9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BAA5-54EE-448D-6359-832E6A663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C2D7A-EB1D-4694-2C50-466E68FB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D1FBD-16CE-2D86-8C64-DC30B386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6F6D6-774F-1460-3215-A6F6BBDB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44514-E64E-940A-6C0D-25385260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4A630-4347-8312-3268-4275615B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95119-7ED0-CC12-CEF4-3C5DD156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1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9222-73DC-A599-338A-AB1D987EF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D374-7B2F-A09D-5E0D-AD64A84B6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54F67-ABA1-E285-BCA8-B0C4AD122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4BEBD-9703-9968-52B0-E51B40E0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6ED52-1CF1-57F0-5CB2-3F735C6C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A3AE5-487A-EF49-4DB6-7F81A1F7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4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A9AA4-95E0-79CE-96F9-5C17FE91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C3F297-0D28-D312-18CF-765AE00383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F2300-A49E-AEC3-50A9-4CFE1AA7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C1667-B0BA-CEC7-2D6C-7DB53149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A1C6D-4781-D12E-1058-B5DE7955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71B09-B9F0-A16E-3015-BC89E1A3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77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6246-C61D-8B73-D0C9-9DB6074A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28E75-8EB2-FC05-E0F8-166A046F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66CE3-19D8-34C2-86A2-A5F292CA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51DE9-BE3D-0115-9200-78A0B08E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32B46-D765-8884-9576-BD1180A6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6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79EA42-A743-6714-FA89-A778EC152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CFE26-B091-2BCA-AF9A-99444E4D8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6A8D6-4C86-B5F0-BAA4-958A95FF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11F0A-F9AD-F0E4-A7BB-DAC29315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85A00-04C9-8057-5E46-A10B80BA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4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C5FE6-7B66-0977-5BD1-1CACC681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32C20-D0E9-E345-FDE1-9D63857C7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95A1D-274E-AF04-D461-BC5CFB84D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C1628-492A-4B62-A63F-DE81725DF18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EC3EC-3537-63E8-C641-175B03973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0C1A7-85B3-EEE0-16D2-2F83A820E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FB1A4-18E6-49D6-AD32-FAC2E68C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4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DBB4D3-8064-60B4-D9EF-6206C3AEF7A4}"/>
              </a:ext>
            </a:extLst>
          </p:cNvPr>
          <p:cNvSpPr txBox="1"/>
          <p:nvPr/>
        </p:nvSpPr>
        <p:spPr>
          <a:xfrm>
            <a:off x="718983" y="172462"/>
            <a:ext cx="9044450" cy="1510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WPC"/>
              </a:rPr>
              <a:t>Framework overview</a:t>
            </a:r>
          </a:p>
          <a:p>
            <a:pPr algn="l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Segoe WPC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WPC"/>
              </a:rPr>
              <a:t>Goal: solve LP/MILP from natural-language prose.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WPC"/>
              </a:rPr>
              <a:t>Core idea: multi-LLM extraction + deterministic validation/repair + solver.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00C80-571D-BAA7-CB50-F4FDA68A50AD}"/>
              </a:ext>
            </a:extLst>
          </p:cNvPr>
          <p:cNvSpPr txBox="1"/>
          <p:nvPr/>
        </p:nvSpPr>
        <p:spPr>
          <a:xfrm>
            <a:off x="718983" y="2239486"/>
            <a:ext cx="8292282" cy="3824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WPC"/>
              </a:rPr>
              <a:t>Pipeline (left to right)</a:t>
            </a:r>
            <a:endParaRPr lang="en-US" sz="2000" b="0" i="0" dirty="0">
              <a:solidFill>
                <a:srgbClr val="000000"/>
              </a:solidFill>
              <a:effectLst/>
              <a:latin typeface="Segoe WPC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Natural-language problem text</a:t>
            </a:r>
            <a:endParaRPr lang="en-US" sz="2000" b="0" i="0" dirty="0">
              <a:solidFill>
                <a:schemeClr val="accent1"/>
              </a:solidFill>
              <a:effectLst/>
              <a:latin typeface="Segoe WPC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ExtractorA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(LLM)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WPC"/>
              </a:rPr>
              <a:t>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WPC"/>
              </a:rPr>
              <a:t>and </a:t>
            </a:r>
            <a:r>
              <a:rPr lang="en-US" sz="20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ExtractorB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(LLM)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WPC"/>
              </a:rPr>
              <a:t> </a:t>
            </a:r>
            <a:r>
              <a:rPr lang="en-US" sz="2000" dirty="0">
                <a:solidFill>
                  <a:srgbClr val="000000"/>
                </a:solidFill>
                <a:latin typeface="Segoe WPC"/>
              </a:rPr>
              <a:t>(JSON)</a:t>
            </a:r>
            <a:endParaRPr lang="en-US" sz="2000" b="0" i="0" dirty="0">
              <a:solidFill>
                <a:srgbClr val="000000"/>
              </a:solidFill>
              <a:effectLst/>
              <a:latin typeface="Segoe WPC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1" i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Deterministic Validator</a:t>
            </a:r>
            <a:endParaRPr lang="en-US" sz="2000" b="0" i="0" dirty="0">
              <a:solidFill>
                <a:schemeClr val="accent4"/>
              </a:solidFill>
              <a:effectLst/>
              <a:latin typeface="Segoe WPC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Candidate selection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WPC"/>
              </a:rPr>
              <a:t>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Critic (LLM)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WPC"/>
              </a:rPr>
              <a:t>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WPC"/>
              </a:rPr>
              <a:t>repair loop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Adjudicator (LLM)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Segoe WPC"/>
              </a:rPr>
              <a:t>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WPC"/>
              </a:rPr>
              <a:t>final consistency pass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1" i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Final deterministic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validation gate</a:t>
            </a:r>
            <a:endParaRPr lang="en-US" sz="2000" b="0" i="0" dirty="0">
              <a:solidFill>
                <a:srgbClr val="000000"/>
              </a:solidFill>
              <a:effectLst/>
              <a:latin typeface="Segoe WPC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PuLP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/CBC solver</a:t>
            </a:r>
            <a:endParaRPr lang="en-US" sz="2000" b="0" i="0" dirty="0">
              <a:solidFill>
                <a:srgbClr val="000000"/>
              </a:solidFill>
              <a:effectLst/>
              <a:latin typeface="Segoe WPC"/>
            </a:endParaRPr>
          </a:p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Report generator</a:t>
            </a:r>
            <a:endParaRPr lang="en-US" sz="2000" b="0" i="0" dirty="0">
              <a:solidFill>
                <a:schemeClr val="accent1"/>
              </a:solidFill>
              <a:effectLst/>
              <a:latin typeface="Segoe WP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D473DB-A70A-81BF-06A7-5155A61372CF}"/>
              </a:ext>
            </a:extLst>
          </p:cNvPr>
          <p:cNvSpPr txBox="1"/>
          <p:nvPr/>
        </p:nvSpPr>
        <p:spPr>
          <a:xfrm>
            <a:off x="7473746" y="4994306"/>
            <a:ext cx="44724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ExtractorA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google/flan-t5-base  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ExtractorB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google/flan-t5-small 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Critic: google/flan-t5-base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Adjudicator: google/flan-t5-small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89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B9F57-DD81-7FBE-4AB6-3E074202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1F69DE-7FBA-3459-8977-37D7F48B292F}"/>
              </a:ext>
            </a:extLst>
          </p:cNvPr>
          <p:cNvSpPr txBox="1"/>
          <p:nvPr/>
        </p:nvSpPr>
        <p:spPr>
          <a:xfrm>
            <a:off x="329381" y="992554"/>
            <a:ext cx="1153323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problem_1 = </a:t>
            </a:r>
            <a:r>
              <a:rPr lang="en-US" sz="20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"""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furniture workshop produces </a:t>
            </a:r>
            <a:r>
              <a:rPr lang="en-US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two types of products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desks and bookshelves. Each desk sold generates a profit of $55, and each bookshelf generates a profit of $45. The workshop goal is to determine how many units of each product to manufacture in order to </a:t>
            </a:r>
            <a:r>
              <a:rPr lang="en-US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maximize total profit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b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Production requires </a:t>
            </a:r>
            <a:r>
              <a:rPr lang="en-US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two limited resources: carpentry labor hours and finishing hours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Each desk requires 3 hours of carpentry labor and 2 hours of finishing. Each bookshelf requires 2 hours of carpentry labor and 3 hours of finishing. The workshop has at most 90 carpentry labor hours and 100 finishing hours available during the planning period.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addition, due to storage space limitations, no </a:t>
            </a:r>
            <a:r>
              <a:rPr lang="en-US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more than 25 desks can be produced 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during this period.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numbers of desks and bookshelves produced must be nonnegative integers.</a:t>
            </a:r>
          </a:p>
          <a:p>
            <a:pPr>
              <a:buNone/>
            </a:pPr>
            <a:b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Determine the production quantities that maximize total profit while satisfying all resource and capacity constraints."""</a:t>
            </a:r>
          </a:p>
        </p:txBody>
      </p:sp>
    </p:spTree>
    <p:extLst>
      <p:ext uri="{BB962C8B-B14F-4D97-AF65-F5344CB8AC3E}">
        <p14:creationId xmlns:p14="http://schemas.microsoft.com/office/powerpoint/2010/main" val="34019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FEE9-B578-BE83-7B10-95F95C88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45A52F-C90B-9214-C353-452A69029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3" y="783746"/>
            <a:ext cx="6626077" cy="52905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6C130B-8AAF-73D4-2C32-A8C6139A8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07" y="1309508"/>
            <a:ext cx="4717578" cy="360756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139F4B-1E68-9351-0061-0FD0D9F1C0D4}"/>
              </a:ext>
            </a:extLst>
          </p:cNvPr>
          <p:cNvCxnSpPr/>
          <p:nvPr/>
        </p:nvCxnSpPr>
        <p:spPr>
          <a:xfrm>
            <a:off x="5317185" y="299803"/>
            <a:ext cx="0" cy="62658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45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F21C-9437-BAAB-CB08-BC3F1217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34" y="27615"/>
            <a:ext cx="10515600" cy="864068"/>
          </a:xfrm>
        </p:spPr>
        <p:txBody>
          <a:bodyPr/>
          <a:lstStyle/>
          <a:p>
            <a:r>
              <a:rPr lang="en-US" dirty="0"/>
              <a:t>Estimated costs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8DA43B-ECD8-B74F-2E62-0F35F3F9B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8977" y="891684"/>
            <a:ext cx="9523917" cy="593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265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Segoe WPC</vt:lpstr>
      <vt:lpstr>Office Theme</vt:lpstr>
      <vt:lpstr>PowerPoint Presentation</vt:lpstr>
      <vt:lpstr>PowerPoint Presentation</vt:lpstr>
      <vt:lpstr>PowerPoint Presentation</vt:lpstr>
      <vt:lpstr>Estimated costs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GOMEZ OCHOA</dc:creator>
  <cp:lastModifiedBy>MANUEL GOMEZ OCHOA</cp:lastModifiedBy>
  <cp:revision>1</cp:revision>
  <dcterms:created xsi:type="dcterms:W3CDTF">2026-02-13T19:08:05Z</dcterms:created>
  <dcterms:modified xsi:type="dcterms:W3CDTF">2026-02-13T19:56:45Z</dcterms:modified>
</cp:coreProperties>
</file>